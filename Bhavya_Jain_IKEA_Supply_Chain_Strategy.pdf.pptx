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16F39-BD98-F59E-B1E1-D29D60100E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5324A70-07AF-6D47-EACB-E225ED2104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F9EFD4-D7D4-9BA1-BD90-98300BCC08DE}"/>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5" name="Footer Placeholder 4">
            <a:extLst>
              <a:ext uri="{FF2B5EF4-FFF2-40B4-BE49-F238E27FC236}">
                <a16:creationId xmlns:a16="http://schemas.microsoft.com/office/drawing/2014/main" id="{AAAB0CA7-6940-0ABB-8B9E-63C41E9446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4170639-A605-2FB5-30BB-0D4660F369A0}"/>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2687892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6F8B-C0B4-D271-492B-BE4B684D1A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BBC363-DF7C-AEB5-9543-B02E4350696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E76370-4D22-4851-8805-AC38044036D1}"/>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5" name="Footer Placeholder 4">
            <a:extLst>
              <a:ext uri="{FF2B5EF4-FFF2-40B4-BE49-F238E27FC236}">
                <a16:creationId xmlns:a16="http://schemas.microsoft.com/office/drawing/2014/main" id="{EA24BF98-8B96-1DFD-212A-47DC820798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6E5E5C-6521-EF5B-1CEA-75E9FE9211CF}"/>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16881132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398FC-4C27-88B9-5AAF-5718707C0D8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271F10-DA22-32F8-7E65-1523281786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B6039E-19A5-CA63-F0E2-AB9EE7B0204A}"/>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5" name="Footer Placeholder 4">
            <a:extLst>
              <a:ext uri="{FF2B5EF4-FFF2-40B4-BE49-F238E27FC236}">
                <a16:creationId xmlns:a16="http://schemas.microsoft.com/office/drawing/2014/main" id="{9AD19EC1-E47A-2013-169D-02A91A68DA6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B25D4B-343A-EE01-E0EB-0B17C31BFF1F}"/>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3631442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3D228-DB1A-6012-BDF3-50D7D02DCC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BDA957-8C7E-6507-33C4-7F84EAC655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67B5F3C-21C3-B0D9-6789-F432FF8BC3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B2862F-BABA-733A-034E-6AF924CCAC64}"/>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6" name="Footer Placeholder 5">
            <a:extLst>
              <a:ext uri="{FF2B5EF4-FFF2-40B4-BE49-F238E27FC236}">
                <a16:creationId xmlns:a16="http://schemas.microsoft.com/office/drawing/2014/main" id="{B46F9F7F-E2F6-8EC9-6C38-0F5BBD17EE0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1EDB18-0085-992A-66F4-9A6B9BA145B0}"/>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1064810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526C0-06AA-62D2-16FA-639E70BD1FC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83A7C5-7D42-FCCB-D899-68F98CEFE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EBE8D8-A2A5-083C-F93D-D9184FF5CDD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1D27A3-DBE9-F0CC-6B78-653225437F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A5FA81-C60E-3BC5-D468-D3F1B662D1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04DF6C4-504D-CA31-8D5A-8CD9980F32F1}"/>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8" name="Footer Placeholder 7">
            <a:extLst>
              <a:ext uri="{FF2B5EF4-FFF2-40B4-BE49-F238E27FC236}">
                <a16:creationId xmlns:a16="http://schemas.microsoft.com/office/drawing/2014/main" id="{4BA95410-047C-88AF-5E58-1422BA3350A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FAA3DD-F719-561A-C188-D471D3907EB4}"/>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3118216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7559C-AB89-C6C9-AC85-C78FFC3F854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FB7915-4CF3-F9DC-94CC-6669C095DAFF}"/>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4" name="Footer Placeholder 3">
            <a:extLst>
              <a:ext uri="{FF2B5EF4-FFF2-40B4-BE49-F238E27FC236}">
                <a16:creationId xmlns:a16="http://schemas.microsoft.com/office/drawing/2014/main" id="{43F0E77A-14EB-2306-B530-EECAB858ED9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4A83A2-812C-6F9D-F3A7-3B04B96CB6B8}"/>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10134577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369B07-272C-0F3D-6B42-5F3CD5680A8D}"/>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3" name="Footer Placeholder 2">
            <a:extLst>
              <a:ext uri="{FF2B5EF4-FFF2-40B4-BE49-F238E27FC236}">
                <a16:creationId xmlns:a16="http://schemas.microsoft.com/office/drawing/2014/main" id="{E0311A77-2222-637C-24DB-B95055EE29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85CD3B8-761A-9ABB-73E6-2BEA8379AAC3}"/>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3642788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F97E8-757A-868F-2373-D2DDB2057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8653099-3E8B-2E02-B288-0319FB8F0C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CA137B2-BEF5-D009-F088-0DCB92CAE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499BAB-7177-589B-C4C4-5E748944264D}"/>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6" name="Footer Placeholder 5">
            <a:extLst>
              <a:ext uri="{FF2B5EF4-FFF2-40B4-BE49-F238E27FC236}">
                <a16:creationId xmlns:a16="http://schemas.microsoft.com/office/drawing/2014/main" id="{186A520E-CB76-0288-CD55-BF498BF2DA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77A676-0A0B-103F-E809-2D9DAA0B0C22}"/>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2790062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4B100-0726-0732-E1FC-F1DA0A9AAC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A1E772-4F94-C37B-17C0-B09C943D1B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43FD763-B7F1-288B-5CC9-074B173B45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0A63BD-A3CC-2EDF-D734-29910C570698}"/>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6" name="Footer Placeholder 5">
            <a:extLst>
              <a:ext uri="{FF2B5EF4-FFF2-40B4-BE49-F238E27FC236}">
                <a16:creationId xmlns:a16="http://schemas.microsoft.com/office/drawing/2014/main" id="{F579CB70-3832-67FB-10DA-A53C80D3AF6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A93869-CE6F-AD00-5C94-BFE9F7CD7632}"/>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4205145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6F609-BC3F-8534-9177-D9DF35CDA9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D16FC2-DAB7-42D4-76A1-8CC41D49601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980278-19F7-14A1-B58D-1B8574D3C6D8}"/>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5" name="Footer Placeholder 4">
            <a:extLst>
              <a:ext uri="{FF2B5EF4-FFF2-40B4-BE49-F238E27FC236}">
                <a16:creationId xmlns:a16="http://schemas.microsoft.com/office/drawing/2014/main" id="{E49821BC-636A-4DA2-09AD-3860E87245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6C550D-0D8F-0A80-A5DB-E881A64D63C4}"/>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4288166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45E23D-9AEB-BB35-2210-E48BE1BE99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E57215-921B-9844-954F-F68A839681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6F84D28-C11B-7303-D926-517DCBCC999C}"/>
              </a:ext>
            </a:extLst>
          </p:cNvPr>
          <p:cNvSpPr>
            <a:spLocks noGrp="1"/>
          </p:cNvSpPr>
          <p:nvPr>
            <p:ph type="dt" sz="half" idx="10"/>
          </p:nvPr>
        </p:nvSpPr>
        <p:spPr/>
        <p:txBody>
          <a:bodyPr/>
          <a:lstStyle/>
          <a:p>
            <a:fld id="{033C89BD-803D-41E0-8902-273BDC96FB23}" type="datetimeFigureOut">
              <a:rPr lang="en-IN" smtClean="0"/>
              <a:t>09-11-2024</a:t>
            </a:fld>
            <a:endParaRPr lang="en-IN"/>
          </a:p>
        </p:txBody>
      </p:sp>
      <p:sp>
        <p:nvSpPr>
          <p:cNvPr id="5" name="Footer Placeholder 4">
            <a:extLst>
              <a:ext uri="{FF2B5EF4-FFF2-40B4-BE49-F238E27FC236}">
                <a16:creationId xmlns:a16="http://schemas.microsoft.com/office/drawing/2014/main" id="{222A0021-26C1-B198-4B9B-DE93CC1EF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B5EA47-42FF-1D1D-B161-8ECF041B81D6}"/>
              </a:ext>
            </a:extLst>
          </p:cNvPr>
          <p:cNvSpPr>
            <a:spLocks noGrp="1"/>
          </p:cNvSpPr>
          <p:nvPr>
            <p:ph type="sldNum" sz="quarter" idx="12"/>
          </p:nvPr>
        </p:nvSpPr>
        <p:spPr/>
        <p:txBody>
          <a:bodyPr/>
          <a:lstStyle/>
          <a:p>
            <a:fld id="{263F39D3-F370-4654-90AB-3DE4C26E93D2}" type="slidenum">
              <a:rPr lang="en-IN" smtClean="0"/>
              <a:t>‹#›</a:t>
            </a:fld>
            <a:endParaRPr lang="en-IN"/>
          </a:p>
        </p:txBody>
      </p:sp>
    </p:spTree>
    <p:extLst>
      <p:ext uri="{BB962C8B-B14F-4D97-AF65-F5344CB8AC3E}">
        <p14:creationId xmlns:p14="http://schemas.microsoft.com/office/powerpoint/2010/main" val="1748719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9CCB00-7DB3-8E34-FD0F-2FF80701D8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ED7AA9-FBA4-903C-8291-B1AF97F55D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B6BAD6-D923-92C3-FA41-99D15B04E7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3C89BD-803D-41E0-8902-273BDC96FB23}" type="datetimeFigureOut">
              <a:rPr lang="en-IN" smtClean="0"/>
              <a:t>09-11-2024</a:t>
            </a:fld>
            <a:endParaRPr lang="en-IN"/>
          </a:p>
        </p:txBody>
      </p:sp>
      <p:sp>
        <p:nvSpPr>
          <p:cNvPr id="5" name="Footer Placeholder 4">
            <a:extLst>
              <a:ext uri="{FF2B5EF4-FFF2-40B4-BE49-F238E27FC236}">
                <a16:creationId xmlns:a16="http://schemas.microsoft.com/office/drawing/2014/main" id="{DA5DE83F-CE18-E26B-0A52-A1DA51BCAA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24B09DA-A381-31DF-4ED4-AED90993A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F39D3-F370-4654-90AB-3DE4C26E93D2}" type="slidenum">
              <a:rPr lang="en-IN" smtClean="0"/>
              <a:t>‹#›</a:t>
            </a:fld>
            <a:endParaRPr lang="en-IN"/>
          </a:p>
        </p:txBody>
      </p:sp>
    </p:spTree>
    <p:extLst>
      <p:ext uri="{BB962C8B-B14F-4D97-AF65-F5344CB8AC3E}">
        <p14:creationId xmlns:p14="http://schemas.microsoft.com/office/powerpoint/2010/main" val="11208957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77297-3686-0C4E-FCE3-92FB2D8EDAA1}"/>
              </a:ext>
            </a:extLst>
          </p:cNvPr>
          <p:cNvSpPr>
            <a:spLocks noGrp="1"/>
          </p:cNvSpPr>
          <p:nvPr>
            <p:ph type="ctrTitle"/>
          </p:nvPr>
        </p:nvSpPr>
        <p:spPr/>
        <p:txBody>
          <a:bodyPr/>
          <a:lstStyle/>
          <a:p>
            <a:r>
              <a:rPr lang="en-GB" dirty="0"/>
              <a:t>IKEA’s Supply Chain and OPS</a:t>
            </a:r>
            <a:br>
              <a:rPr lang="en-GB" dirty="0"/>
            </a:br>
            <a:endParaRPr lang="en-IN" dirty="0"/>
          </a:p>
        </p:txBody>
      </p:sp>
      <p:sp>
        <p:nvSpPr>
          <p:cNvPr id="3" name="Subtitle 2">
            <a:extLst>
              <a:ext uri="{FF2B5EF4-FFF2-40B4-BE49-F238E27FC236}">
                <a16:creationId xmlns:a16="http://schemas.microsoft.com/office/drawing/2014/main" id="{14139845-B16E-9846-96BB-191265F30AF0}"/>
              </a:ext>
            </a:extLst>
          </p:cNvPr>
          <p:cNvSpPr>
            <a:spLocks noGrp="1"/>
          </p:cNvSpPr>
          <p:nvPr>
            <p:ph type="subTitle" idx="1"/>
          </p:nvPr>
        </p:nvSpPr>
        <p:spPr/>
        <p:txBody>
          <a:bodyPr/>
          <a:lstStyle/>
          <a:p>
            <a:r>
              <a:rPr lang="en-GB" dirty="0"/>
              <a:t>BHAVYA JAIN</a:t>
            </a:r>
          </a:p>
          <a:p>
            <a:r>
              <a:rPr lang="en-GB" dirty="0"/>
              <a:t>77513325</a:t>
            </a:r>
          </a:p>
          <a:p>
            <a:r>
              <a:rPr lang="en-GB" dirty="0"/>
              <a:t>DATE</a:t>
            </a:r>
            <a:endParaRPr lang="en-IN" dirty="0"/>
          </a:p>
        </p:txBody>
      </p:sp>
    </p:spTree>
    <p:extLst>
      <p:ext uri="{BB962C8B-B14F-4D97-AF65-F5344CB8AC3E}">
        <p14:creationId xmlns:p14="http://schemas.microsoft.com/office/powerpoint/2010/main" val="2729490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6B894-FE48-7E35-8453-AB954DFD8F91}"/>
              </a:ext>
            </a:extLst>
          </p:cNvPr>
          <p:cNvSpPr>
            <a:spLocks noGrp="1"/>
          </p:cNvSpPr>
          <p:nvPr>
            <p:ph type="title"/>
          </p:nvPr>
        </p:nvSpPr>
        <p:spPr/>
        <p:txBody>
          <a:bodyPr/>
          <a:lstStyle/>
          <a:p>
            <a:r>
              <a:rPr lang="en-GB" dirty="0"/>
              <a:t>Supply network</a:t>
            </a:r>
            <a:endParaRPr lang="en-IN" dirty="0"/>
          </a:p>
        </p:txBody>
      </p:sp>
      <p:sp>
        <p:nvSpPr>
          <p:cNvPr id="4" name="Rectangle 3">
            <a:extLst>
              <a:ext uri="{FF2B5EF4-FFF2-40B4-BE49-F238E27FC236}">
                <a16:creationId xmlns:a16="http://schemas.microsoft.com/office/drawing/2014/main" id="{6A3B9074-3749-2701-7143-A64B9D6B01A0}"/>
              </a:ext>
            </a:extLst>
          </p:cNvPr>
          <p:cNvSpPr/>
          <p:nvPr/>
        </p:nvSpPr>
        <p:spPr>
          <a:xfrm>
            <a:off x="1002890" y="4562168"/>
            <a:ext cx="1170039" cy="16147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b="0" i="0" dirty="0">
                <a:solidFill>
                  <a:schemeClr val="tx1"/>
                </a:solidFill>
                <a:effectLst/>
                <a:latin typeface="__fkGroteskNeue_598ab8"/>
              </a:rPr>
              <a:t>Over 1,000 suppliers providing essential materials like wood, textiles, metals, and plastics from around the globe.</a:t>
            </a:r>
          </a:p>
        </p:txBody>
      </p:sp>
      <p:sp>
        <p:nvSpPr>
          <p:cNvPr id="6" name="Rectangle 5">
            <a:extLst>
              <a:ext uri="{FF2B5EF4-FFF2-40B4-BE49-F238E27FC236}">
                <a16:creationId xmlns:a16="http://schemas.microsoft.com/office/drawing/2014/main" id="{C3DBBE39-8FFA-892E-2A91-E4CA6F015843}"/>
              </a:ext>
            </a:extLst>
          </p:cNvPr>
          <p:cNvSpPr/>
          <p:nvPr/>
        </p:nvSpPr>
        <p:spPr>
          <a:xfrm>
            <a:off x="4572001" y="4562167"/>
            <a:ext cx="1170039" cy="19788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BF6847E4-AC3C-3363-512C-93E5FC404E7A}"/>
              </a:ext>
            </a:extLst>
          </p:cNvPr>
          <p:cNvSpPr/>
          <p:nvPr/>
        </p:nvSpPr>
        <p:spPr>
          <a:xfrm>
            <a:off x="6297561" y="4562167"/>
            <a:ext cx="1170039" cy="16147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0FDAB8F8-EA27-1688-6896-78DB85181DE5}"/>
              </a:ext>
            </a:extLst>
          </p:cNvPr>
          <p:cNvSpPr/>
          <p:nvPr/>
        </p:nvSpPr>
        <p:spPr>
          <a:xfrm>
            <a:off x="8082117" y="4255008"/>
            <a:ext cx="2939835" cy="233907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E73C61E7-D367-57CB-FF09-A5B0F5EC4233}"/>
              </a:ext>
            </a:extLst>
          </p:cNvPr>
          <p:cNvSpPr/>
          <p:nvPr/>
        </p:nvSpPr>
        <p:spPr>
          <a:xfrm>
            <a:off x="2816943" y="4562165"/>
            <a:ext cx="1170039" cy="161479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7679666-00D5-D747-6054-C55789FA9919}"/>
              </a:ext>
            </a:extLst>
          </p:cNvPr>
          <p:cNvSpPr txBox="1"/>
          <p:nvPr/>
        </p:nvSpPr>
        <p:spPr>
          <a:xfrm>
            <a:off x="1170048" y="4562165"/>
            <a:ext cx="806631" cy="261610"/>
          </a:xfrm>
          <a:prstGeom prst="rect">
            <a:avLst/>
          </a:prstGeom>
          <a:noFill/>
        </p:spPr>
        <p:txBody>
          <a:bodyPr wrap="none" rtlCol="0">
            <a:spAutoFit/>
          </a:bodyPr>
          <a:lstStyle/>
          <a:p>
            <a:r>
              <a:rPr lang="en-GB" sz="1100" b="1" dirty="0"/>
              <a:t>SUPPLIERS</a:t>
            </a:r>
            <a:endParaRPr lang="en-IN" sz="1100" b="1" dirty="0"/>
          </a:p>
        </p:txBody>
      </p:sp>
      <p:sp>
        <p:nvSpPr>
          <p:cNvPr id="12" name="TextBox 11">
            <a:extLst>
              <a:ext uri="{FF2B5EF4-FFF2-40B4-BE49-F238E27FC236}">
                <a16:creationId xmlns:a16="http://schemas.microsoft.com/office/drawing/2014/main" id="{767CA310-B18F-9F37-E394-30F3F06F13A6}"/>
              </a:ext>
            </a:extLst>
          </p:cNvPr>
          <p:cNvSpPr txBox="1"/>
          <p:nvPr/>
        </p:nvSpPr>
        <p:spPr>
          <a:xfrm>
            <a:off x="2768145" y="4552072"/>
            <a:ext cx="1263487" cy="261610"/>
          </a:xfrm>
          <a:prstGeom prst="rect">
            <a:avLst/>
          </a:prstGeom>
          <a:noFill/>
        </p:spPr>
        <p:txBody>
          <a:bodyPr wrap="none" rtlCol="0">
            <a:spAutoFit/>
          </a:bodyPr>
          <a:lstStyle/>
          <a:p>
            <a:r>
              <a:rPr lang="en-GB" sz="1100" b="1" dirty="0"/>
              <a:t>MANUFACTURING</a:t>
            </a:r>
            <a:endParaRPr lang="en-IN" sz="1100" b="1" dirty="0"/>
          </a:p>
        </p:txBody>
      </p:sp>
      <p:sp>
        <p:nvSpPr>
          <p:cNvPr id="13" name="TextBox 12">
            <a:extLst>
              <a:ext uri="{FF2B5EF4-FFF2-40B4-BE49-F238E27FC236}">
                <a16:creationId xmlns:a16="http://schemas.microsoft.com/office/drawing/2014/main" id="{023A99B4-ECB4-07D6-19D9-89AC034170C1}"/>
              </a:ext>
            </a:extLst>
          </p:cNvPr>
          <p:cNvSpPr txBox="1"/>
          <p:nvPr/>
        </p:nvSpPr>
        <p:spPr>
          <a:xfrm>
            <a:off x="4461892" y="4562165"/>
            <a:ext cx="1234972" cy="430887"/>
          </a:xfrm>
          <a:prstGeom prst="rect">
            <a:avLst/>
          </a:prstGeom>
          <a:noFill/>
        </p:spPr>
        <p:txBody>
          <a:bodyPr wrap="square" rtlCol="0">
            <a:spAutoFit/>
          </a:bodyPr>
          <a:lstStyle/>
          <a:p>
            <a:pPr algn="ctr"/>
            <a:r>
              <a:rPr lang="en-GB" sz="1100" b="1" dirty="0"/>
              <a:t>DISTRIBUTION</a:t>
            </a:r>
          </a:p>
          <a:p>
            <a:pPr algn="ctr"/>
            <a:r>
              <a:rPr lang="en-GB" sz="1100" b="1" dirty="0"/>
              <a:t>CENTERS</a:t>
            </a:r>
            <a:endParaRPr lang="en-IN" sz="1100" b="1" dirty="0"/>
          </a:p>
        </p:txBody>
      </p:sp>
      <p:sp>
        <p:nvSpPr>
          <p:cNvPr id="14" name="TextBox 13">
            <a:extLst>
              <a:ext uri="{FF2B5EF4-FFF2-40B4-BE49-F238E27FC236}">
                <a16:creationId xmlns:a16="http://schemas.microsoft.com/office/drawing/2014/main" id="{B772A760-3640-ADB8-8DDB-20098F372B09}"/>
              </a:ext>
            </a:extLst>
          </p:cNvPr>
          <p:cNvSpPr txBox="1"/>
          <p:nvPr/>
        </p:nvSpPr>
        <p:spPr>
          <a:xfrm>
            <a:off x="6239556" y="4596079"/>
            <a:ext cx="1342095" cy="261607"/>
          </a:xfrm>
          <a:prstGeom prst="rect">
            <a:avLst/>
          </a:prstGeom>
          <a:noFill/>
        </p:spPr>
        <p:txBody>
          <a:bodyPr wrap="square" rtlCol="0">
            <a:spAutoFit/>
          </a:bodyPr>
          <a:lstStyle/>
          <a:p>
            <a:r>
              <a:rPr lang="en-GB" sz="1100" b="1" dirty="0"/>
              <a:t>TRANSPORTATION</a:t>
            </a:r>
            <a:endParaRPr lang="en-IN" sz="1100" b="1" dirty="0"/>
          </a:p>
        </p:txBody>
      </p:sp>
      <p:sp>
        <p:nvSpPr>
          <p:cNvPr id="15" name="TextBox 14">
            <a:extLst>
              <a:ext uri="{FF2B5EF4-FFF2-40B4-BE49-F238E27FC236}">
                <a16:creationId xmlns:a16="http://schemas.microsoft.com/office/drawing/2014/main" id="{5C94DB2F-10C3-1AF7-C9B9-07B034BE363C}"/>
              </a:ext>
            </a:extLst>
          </p:cNvPr>
          <p:cNvSpPr txBox="1"/>
          <p:nvPr/>
        </p:nvSpPr>
        <p:spPr>
          <a:xfrm>
            <a:off x="9197387" y="4290462"/>
            <a:ext cx="1577293" cy="276999"/>
          </a:xfrm>
          <a:prstGeom prst="rect">
            <a:avLst/>
          </a:prstGeom>
          <a:noFill/>
        </p:spPr>
        <p:txBody>
          <a:bodyPr wrap="square" rtlCol="0">
            <a:spAutoFit/>
          </a:bodyPr>
          <a:lstStyle/>
          <a:p>
            <a:r>
              <a:rPr lang="en-GB" sz="1200" b="1" dirty="0"/>
              <a:t>RETAIL</a:t>
            </a:r>
            <a:endParaRPr lang="en-IN" sz="1200" b="1" dirty="0"/>
          </a:p>
        </p:txBody>
      </p:sp>
      <p:sp>
        <p:nvSpPr>
          <p:cNvPr id="17" name="TextBox 16">
            <a:extLst>
              <a:ext uri="{FF2B5EF4-FFF2-40B4-BE49-F238E27FC236}">
                <a16:creationId xmlns:a16="http://schemas.microsoft.com/office/drawing/2014/main" id="{7C33C2F5-F5A7-5ADE-AB1A-2811B48D8BFB}"/>
              </a:ext>
            </a:extLst>
          </p:cNvPr>
          <p:cNvSpPr txBox="1"/>
          <p:nvPr/>
        </p:nvSpPr>
        <p:spPr>
          <a:xfrm>
            <a:off x="2828602" y="4777608"/>
            <a:ext cx="1189337" cy="1323439"/>
          </a:xfrm>
          <a:prstGeom prst="rect">
            <a:avLst/>
          </a:prstGeom>
          <a:noFill/>
        </p:spPr>
        <p:txBody>
          <a:bodyPr wrap="square" rtlCol="0">
            <a:spAutoFit/>
          </a:bodyPr>
          <a:lstStyle/>
          <a:p>
            <a:pPr algn="l"/>
            <a:r>
              <a:rPr lang="en-GB" sz="800" b="0" i="0" dirty="0">
                <a:effectLst/>
                <a:latin typeface="__fkGroteskNeue_598ab8"/>
              </a:rPr>
              <a:t>In-house production  Ikea has 44 manufacturing units located in various countries and has Partnerships with third-party manufacturers to supplement production capacity and diversify product offerings.</a:t>
            </a:r>
          </a:p>
        </p:txBody>
      </p:sp>
      <p:sp>
        <p:nvSpPr>
          <p:cNvPr id="18" name="TextBox 17">
            <a:extLst>
              <a:ext uri="{FF2B5EF4-FFF2-40B4-BE49-F238E27FC236}">
                <a16:creationId xmlns:a16="http://schemas.microsoft.com/office/drawing/2014/main" id="{E423B0C1-B9E9-93AA-F5DE-4B0FA4D05906}"/>
              </a:ext>
            </a:extLst>
          </p:cNvPr>
          <p:cNvSpPr txBox="1"/>
          <p:nvPr/>
        </p:nvSpPr>
        <p:spPr>
          <a:xfrm>
            <a:off x="4546501" y="4923215"/>
            <a:ext cx="1208368" cy="1569660"/>
          </a:xfrm>
          <a:prstGeom prst="rect">
            <a:avLst/>
          </a:prstGeom>
          <a:noFill/>
        </p:spPr>
        <p:txBody>
          <a:bodyPr wrap="square" rtlCol="0">
            <a:spAutoFit/>
          </a:bodyPr>
          <a:lstStyle/>
          <a:p>
            <a:pPr algn="l"/>
            <a:r>
              <a:rPr lang="en-GB" sz="800" b="0" i="0" dirty="0">
                <a:effectLst/>
                <a:latin typeface="__fkGroteskNeue_598ab8"/>
              </a:rPr>
              <a:t>For Global Distribution </a:t>
            </a:r>
            <a:r>
              <a:rPr lang="en-GB" sz="800" dirty="0">
                <a:latin typeface="__fkGroteskNeue_598ab8"/>
              </a:rPr>
              <a:t>Ikea has </a:t>
            </a:r>
            <a:r>
              <a:rPr lang="en-GB" sz="800" b="0" i="0" dirty="0">
                <a:effectLst/>
                <a:latin typeface="__fkGroteskNeue_598ab8"/>
              </a:rPr>
              <a:t>Large-scale facilities strategically located (e.g., in Europe and North America) for efficient international distribution whereas Smaller </a:t>
            </a:r>
            <a:r>
              <a:rPr lang="en-GB" sz="800" b="0" i="0" dirty="0" err="1">
                <a:effectLst/>
                <a:latin typeface="__fkGroteskNeue_598ab8"/>
              </a:rPr>
              <a:t>centers</a:t>
            </a:r>
            <a:r>
              <a:rPr lang="en-GB" sz="800" b="0" i="0" dirty="0">
                <a:effectLst/>
                <a:latin typeface="__fkGroteskNeue_598ab8"/>
              </a:rPr>
              <a:t> focused on local markets to facilitate faster delivery times and reduce transportation costs.</a:t>
            </a:r>
          </a:p>
        </p:txBody>
      </p:sp>
      <p:sp>
        <p:nvSpPr>
          <p:cNvPr id="19" name="TextBox 18">
            <a:extLst>
              <a:ext uri="{FF2B5EF4-FFF2-40B4-BE49-F238E27FC236}">
                <a16:creationId xmlns:a16="http://schemas.microsoft.com/office/drawing/2014/main" id="{6E33807C-A1E3-A151-8EC3-6439BC02F20C}"/>
              </a:ext>
            </a:extLst>
          </p:cNvPr>
          <p:cNvSpPr txBox="1"/>
          <p:nvPr/>
        </p:nvSpPr>
        <p:spPr>
          <a:xfrm>
            <a:off x="6356557" y="4823775"/>
            <a:ext cx="1087199" cy="1477328"/>
          </a:xfrm>
          <a:prstGeom prst="rect">
            <a:avLst/>
          </a:prstGeom>
          <a:noFill/>
        </p:spPr>
        <p:txBody>
          <a:bodyPr wrap="square" rtlCol="0">
            <a:spAutoFit/>
          </a:bodyPr>
          <a:lstStyle/>
          <a:p>
            <a:r>
              <a:rPr lang="en-GB" sz="800" b="0" i="0" dirty="0">
                <a:effectLst/>
                <a:latin typeface="__fkGroteskNeue_598ab8"/>
              </a:rPr>
              <a:t>For </a:t>
            </a:r>
            <a:r>
              <a:rPr lang="en-GB" sz="800" dirty="0">
                <a:latin typeface="__fkGroteskNeue_598ab8"/>
              </a:rPr>
              <a:t>t</a:t>
            </a:r>
            <a:r>
              <a:rPr lang="en-GB" sz="800" b="0" i="0" dirty="0">
                <a:effectLst/>
                <a:latin typeface="__fkGroteskNeue_598ab8"/>
              </a:rPr>
              <a:t>ransportation</a:t>
            </a:r>
            <a:r>
              <a:rPr lang="en-GB" sz="800" dirty="0">
                <a:latin typeface="__fkGroteskNeue_598ab8"/>
              </a:rPr>
              <a:t>, a</a:t>
            </a:r>
            <a:r>
              <a:rPr lang="en-GB" sz="800" b="0" i="0" dirty="0">
                <a:effectLst/>
                <a:latin typeface="__fkGroteskNeue_598ab8"/>
              </a:rPr>
              <a:t> combination of sea freight for long-distance shipping, rail transport for eco-friendly overland movement, and road transport for regional distribution.</a:t>
            </a:r>
          </a:p>
          <a:p>
            <a:endParaRPr lang="en-IN" dirty="0"/>
          </a:p>
        </p:txBody>
      </p:sp>
      <p:sp>
        <p:nvSpPr>
          <p:cNvPr id="20" name="TextBox 19">
            <a:extLst>
              <a:ext uri="{FF2B5EF4-FFF2-40B4-BE49-F238E27FC236}">
                <a16:creationId xmlns:a16="http://schemas.microsoft.com/office/drawing/2014/main" id="{0C8BDE02-8286-64B3-A2E7-9C16FD47E502}"/>
              </a:ext>
            </a:extLst>
          </p:cNvPr>
          <p:cNvSpPr txBox="1"/>
          <p:nvPr/>
        </p:nvSpPr>
        <p:spPr>
          <a:xfrm>
            <a:off x="8241024" y="4447287"/>
            <a:ext cx="2622019" cy="2123658"/>
          </a:xfrm>
          <a:prstGeom prst="rect">
            <a:avLst/>
          </a:prstGeom>
          <a:noFill/>
        </p:spPr>
        <p:txBody>
          <a:bodyPr wrap="square" rtlCol="0">
            <a:spAutoFit/>
          </a:bodyPr>
          <a:lstStyle/>
          <a:p>
            <a:r>
              <a:rPr lang="en-GB" sz="1200" dirty="0"/>
              <a:t>IKEA operates over 400 stores worldwide. For urban areas, IKEA offers smaller Planning Studios, tailored to city dwellers with limited space, providing customized solutions and design inspiration. IKEA’s online platform seamlessly integrates with their stores, offering customers a convenient, cohesive shopping experience across both digital and physical channels.</a:t>
            </a:r>
            <a:endParaRPr lang="en-IN" sz="1200" dirty="0"/>
          </a:p>
        </p:txBody>
      </p:sp>
      <p:sp>
        <p:nvSpPr>
          <p:cNvPr id="21" name="Rectangle 20">
            <a:extLst>
              <a:ext uri="{FF2B5EF4-FFF2-40B4-BE49-F238E27FC236}">
                <a16:creationId xmlns:a16="http://schemas.microsoft.com/office/drawing/2014/main" id="{32CE26C9-293C-D9C5-9D1D-D6332114AEE5}"/>
              </a:ext>
            </a:extLst>
          </p:cNvPr>
          <p:cNvSpPr/>
          <p:nvPr/>
        </p:nvSpPr>
        <p:spPr>
          <a:xfrm>
            <a:off x="738807" y="1439887"/>
            <a:ext cx="9144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India</a:t>
            </a:r>
            <a:endParaRPr lang="en-IN" dirty="0"/>
          </a:p>
        </p:txBody>
      </p:sp>
      <p:sp>
        <p:nvSpPr>
          <p:cNvPr id="23" name="Rectangle 22">
            <a:extLst>
              <a:ext uri="{FF2B5EF4-FFF2-40B4-BE49-F238E27FC236}">
                <a16:creationId xmlns:a16="http://schemas.microsoft.com/office/drawing/2014/main" id="{7DE99E7B-9E93-9A1C-8162-BDE6343E8B74}"/>
              </a:ext>
            </a:extLst>
          </p:cNvPr>
          <p:cNvSpPr/>
          <p:nvPr/>
        </p:nvSpPr>
        <p:spPr>
          <a:xfrm>
            <a:off x="738807" y="1879610"/>
            <a:ext cx="9144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China</a:t>
            </a:r>
            <a:endParaRPr lang="en-IN" dirty="0"/>
          </a:p>
        </p:txBody>
      </p:sp>
      <p:sp>
        <p:nvSpPr>
          <p:cNvPr id="24" name="Rectangle 23">
            <a:extLst>
              <a:ext uri="{FF2B5EF4-FFF2-40B4-BE49-F238E27FC236}">
                <a16:creationId xmlns:a16="http://schemas.microsoft.com/office/drawing/2014/main" id="{D17E8E16-2FAD-7366-DD32-9E3D5BDC83CA}"/>
              </a:ext>
            </a:extLst>
          </p:cNvPr>
          <p:cNvSpPr/>
          <p:nvPr/>
        </p:nvSpPr>
        <p:spPr>
          <a:xfrm>
            <a:off x="738807" y="2332681"/>
            <a:ext cx="9144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Pakistan</a:t>
            </a:r>
            <a:endParaRPr lang="en-IN" sz="1600" dirty="0"/>
          </a:p>
        </p:txBody>
      </p:sp>
      <p:sp>
        <p:nvSpPr>
          <p:cNvPr id="25" name="Rectangle 24">
            <a:extLst>
              <a:ext uri="{FF2B5EF4-FFF2-40B4-BE49-F238E27FC236}">
                <a16:creationId xmlns:a16="http://schemas.microsoft.com/office/drawing/2014/main" id="{C75DE718-247C-761E-B639-F5A1A5C1F765}"/>
              </a:ext>
            </a:extLst>
          </p:cNvPr>
          <p:cNvSpPr/>
          <p:nvPr/>
        </p:nvSpPr>
        <p:spPr>
          <a:xfrm>
            <a:off x="738807" y="2850515"/>
            <a:ext cx="9144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Russia</a:t>
            </a:r>
            <a:endParaRPr lang="en-IN" dirty="0"/>
          </a:p>
        </p:txBody>
      </p:sp>
      <p:sp>
        <p:nvSpPr>
          <p:cNvPr id="26" name="Rectangle 25">
            <a:extLst>
              <a:ext uri="{FF2B5EF4-FFF2-40B4-BE49-F238E27FC236}">
                <a16:creationId xmlns:a16="http://schemas.microsoft.com/office/drawing/2014/main" id="{5423D065-F2CF-D2AB-A027-C485B28A798A}"/>
              </a:ext>
            </a:extLst>
          </p:cNvPr>
          <p:cNvSpPr/>
          <p:nvPr/>
        </p:nvSpPr>
        <p:spPr>
          <a:xfrm>
            <a:off x="712848" y="3395353"/>
            <a:ext cx="9144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t>Vietnam</a:t>
            </a:r>
            <a:endParaRPr lang="en-IN" sz="1600" dirty="0"/>
          </a:p>
        </p:txBody>
      </p:sp>
      <p:sp>
        <p:nvSpPr>
          <p:cNvPr id="27" name="Rectangle 26">
            <a:extLst>
              <a:ext uri="{FF2B5EF4-FFF2-40B4-BE49-F238E27FC236}">
                <a16:creationId xmlns:a16="http://schemas.microsoft.com/office/drawing/2014/main" id="{10BF3A22-B8C7-5A43-9804-942FD48E713B}"/>
              </a:ext>
            </a:extLst>
          </p:cNvPr>
          <p:cNvSpPr/>
          <p:nvPr/>
        </p:nvSpPr>
        <p:spPr>
          <a:xfrm>
            <a:off x="712848" y="3952565"/>
            <a:ext cx="9144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t>Other Countries</a:t>
            </a:r>
            <a:endParaRPr lang="en-IN" sz="1000" dirty="0"/>
          </a:p>
        </p:txBody>
      </p:sp>
      <p:sp>
        <p:nvSpPr>
          <p:cNvPr id="28" name="Rectangle 27">
            <a:extLst>
              <a:ext uri="{FF2B5EF4-FFF2-40B4-BE49-F238E27FC236}">
                <a16:creationId xmlns:a16="http://schemas.microsoft.com/office/drawing/2014/main" id="{8529558D-1086-D5C0-B2D1-C1E503EC072D}"/>
              </a:ext>
            </a:extLst>
          </p:cNvPr>
          <p:cNvSpPr/>
          <p:nvPr/>
        </p:nvSpPr>
        <p:spPr>
          <a:xfrm>
            <a:off x="2172929" y="1607820"/>
            <a:ext cx="334051" cy="24755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018A22B5-A56F-F1A2-8C33-F2C178122165}"/>
              </a:ext>
            </a:extLst>
          </p:cNvPr>
          <p:cNvSpPr txBox="1"/>
          <p:nvPr/>
        </p:nvSpPr>
        <p:spPr>
          <a:xfrm rot="16200000">
            <a:off x="1619488" y="2660928"/>
            <a:ext cx="1428789" cy="369332"/>
          </a:xfrm>
          <a:prstGeom prst="rect">
            <a:avLst/>
          </a:prstGeom>
          <a:noFill/>
        </p:spPr>
        <p:txBody>
          <a:bodyPr wrap="none" rtlCol="0">
            <a:spAutoFit/>
          </a:bodyPr>
          <a:lstStyle/>
          <a:p>
            <a:r>
              <a:rPr lang="en-GB" dirty="0"/>
              <a:t>Raw Material</a:t>
            </a:r>
            <a:endParaRPr lang="en-IN" dirty="0"/>
          </a:p>
        </p:txBody>
      </p:sp>
      <p:cxnSp>
        <p:nvCxnSpPr>
          <p:cNvPr id="31" name="Straight Arrow Connector 30">
            <a:extLst>
              <a:ext uri="{FF2B5EF4-FFF2-40B4-BE49-F238E27FC236}">
                <a16:creationId xmlns:a16="http://schemas.microsoft.com/office/drawing/2014/main" id="{5691E15E-108F-DD1E-0E6E-4605F7E54841}"/>
              </a:ext>
            </a:extLst>
          </p:cNvPr>
          <p:cNvCxnSpPr>
            <a:stCxn id="21" idx="3"/>
          </p:cNvCxnSpPr>
          <p:nvPr/>
        </p:nvCxnSpPr>
        <p:spPr>
          <a:xfrm>
            <a:off x="1653207" y="1570692"/>
            <a:ext cx="419433" cy="119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36623F35-B96D-77D1-3189-912513391302}"/>
              </a:ext>
            </a:extLst>
          </p:cNvPr>
          <p:cNvCxnSpPr>
            <a:stCxn id="23" idx="3"/>
          </p:cNvCxnSpPr>
          <p:nvPr/>
        </p:nvCxnSpPr>
        <p:spPr>
          <a:xfrm>
            <a:off x="1653207" y="2010415"/>
            <a:ext cx="4194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BB94B355-51C1-1D78-05C1-2426C34DD19E}"/>
              </a:ext>
            </a:extLst>
          </p:cNvPr>
          <p:cNvCxnSpPr>
            <a:stCxn id="24" idx="3"/>
          </p:cNvCxnSpPr>
          <p:nvPr/>
        </p:nvCxnSpPr>
        <p:spPr>
          <a:xfrm>
            <a:off x="1653207" y="2463486"/>
            <a:ext cx="4194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DE0C36A1-D072-B072-8833-1136084B98FF}"/>
              </a:ext>
            </a:extLst>
          </p:cNvPr>
          <p:cNvCxnSpPr>
            <a:stCxn id="25" idx="3"/>
          </p:cNvCxnSpPr>
          <p:nvPr/>
        </p:nvCxnSpPr>
        <p:spPr>
          <a:xfrm>
            <a:off x="1653207" y="2981320"/>
            <a:ext cx="4194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40E81DA-D7B6-3C25-E22C-F7DE2F5DCAC6}"/>
              </a:ext>
            </a:extLst>
          </p:cNvPr>
          <p:cNvCxnSpPr>
            <a:stCxn id="26" idx="3"/>
          </p:cNvCxnSpPr>
          <p:nvPr/>
        </p:nvCxnSpPr>
        <p:spPr>
          <a:xfrm>
            <a:off x="1627248" y="3526158"/>
            <a:ext cx="44539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276C395-93A4-A360-327F-7425735043F2}"/>
              </a:ext>
            </a:extLst>
          </p:cNvPr>
          <p:cNvCxnSpPr>
            <a:stCxn id="27" idx="3"/>
          </p:cNvCxnSpPr>
          <p:nvPr/>
        </p:nvCxnSpPr>
        <p:spPr>
          <a:xfrm flipV="1">
            <a:off x="1627248" y="3749040"/>
            <a:ext cx="445392" cy="334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DF6C86F2-5184-AB9B-54EC-017B704416B8}"/>
              </a:ext>
            </a:extLst>
          </p:cNvPr>
          <p:cNvSpPr/>
          <p:nvPr/>
        </p:nvSpPr>
        <p:spPr>
          <a:xfrm>
            <a:off x="3032760" y="2010415"/>
            <a:ext cx="1539241" cy="43088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Manufacturing Ikea</a:t>
            </a:r>
            <a:endParaRPr lang="en-IN" sz="1400" dirty="0"/>
          </a:p>
        </p:txBody>
      </p:sp>
      <p:cxnSp>
        <p:nvCxnSpPr>
          <p:cNvPr id="44" name="Straight Arrow Connector 43">
            <a:extLst>
              <a:ext uri="{FF2B5EF4-FFF2-40B4-BE49-F238E27FC236}">
                <a16:creationId xmlns:a16="http://schemas.microsoft.com/office/drawing/2014/main" id="{743699FD-8045-17F1-59F1-BA0CC2D6C7CA}"/>
              </a:ext>
            </a:extLst>
          </p:cNvPr>
          <p:cNvCxnSpPr/>
          <p:nvPr/>
        </p:nvCxnSpPr>
        <p:spPr>
          <a:xfrm>
            <a:off x="2518549" y="2255520"/>
            <a:ext cx="45325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C3A37F31-15DD-DC6A-B219-EEED7183A537}"/>
              </a:ext>
            </a:extLst>
          </p:cNvPr>
          <p:cNvSpPr/>
          <p:nvPr/>
        </p:nvSpPr>
        <p:spPr>
          <a:xfrm>
            <a:off x="5196840" y="1701497"/>
            <a:ext cx="1234972" cy="127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Distribution Centre/ Warehouse Facility</a:t>
            </a:r>
            <a:endParaRPr lang="en-IN" sz="1400" dirty="0"/>
          </a:p>
        </p:txBody>
      </p:sp>
      <p:cxnSp>
        <p:nvCxnSpPr>
          <p:cNvPr id="47" name="Straight Arrow Connector 46">
            <a:extLst>
              <a:ext uri="{FF2B5EF4-FFF2-40B4-BE49-F238E27FC236}">
                <a16:creationId xmlns:a16="http://schemas.microsoft.com/office/drawing/2014/main" id="{75106DAA-05D0-2FE5-E46E-3939C2C2D321}"/>
              </a:ext>
            </a:extLst>
          </p:cNvPr>
          <p:cNvCxnSpPr>
            <a:stCxn id="42" idx="3"/>
          </p:cNvCxnSpPr>
          <p:nvPr/>
        </p:nvCxnSpPr>
        <p:spPr>
          <a:xfrm>
            <a:off x="4572001" y="2225859"/>
            <a:ext cx="533399" cy="29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66FA4D6B-A4D8-9ADC-9C8E-9B60D37EB99F}"/>
              </a:ext>
            </a:extLst>
          </p:cNvPr>
          <p:cNvSpPr/>
          <p:nvPr/>
        </p:nvSpPr>
        <p:spPr>
          <a:xfrm>
            <a:off x="3423270" y="3357651"/>
            <a:ext cx="7239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t>Wholesales</a:t>
            </a:r>
            <a:endParaRPr lang="en-IN" sz="900" dirty="0"/>
          </a:p>
        </p:txBody>
      </p:sp>
      <p:sp>
        <p:nvSpPr>
          <p:cNvPr id="49" name="Rectangle 48">
            <a:extLst>
              <a:ext uri="{FF2B5EF4-FFF2-40B4-BE49-F238E27FC236}">
                <a16:creationId xmlns:a16="http://schemas.microsoft.com/office/drawing/2014/main" id="{66960A14-F10E-67EB-E0E1-D0865DB7EFFC}"/>
              </a:ext>
            </a:extLst>
          </p:cNvPr>
          <p:cNvSpPr/>
          <p:nvPr/>
        </p:nvSpPr>
        <p:spPr>
          <a:xfrm>
            <a:off x="4388685" y="3361923"/>
            <a:ext cx="7239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Retailers</a:t>
            </a:r>
            <a:endParaRPr lang="en-IN" sz="1100" dirty="0"/>
          </a:p>
        </p:txBody>
      </p:sp>
      <p:sp>
        <p:nvSpPr>
          <p:cNvPr id="50" name="Rectangle 49">
            <a:extLst>
              <a:ext uri="{FF2B5EF4-FFF2-40B4-BE49-F238E27FC236}">
                <a16:creationId xmlns:a16="http://schemas.microsoft.com/office/drawing/2014/main" id="{1E516032-C90B-2B13-7FD9-4E14DDBB202A}"/>
              </a:ext>
            </a:extLst>
          </p:cNvPr>
          <p:cNvSpPr/>
          <p:nvPr/>
        </p:nvSpPr>
        <p:spPr>
          <a:xfrm>
            <a:off x="5358582" y="3370929"/>
            <a:ext cx="7239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dirty="0"/>
              <a:t>Direct sales</a:t>
            </a:r>
            <a:endParaRPr lang="en-IN" sz="1000" dirty="0"/>
          </a:p>
        </p:txBody>
      </p:sp>
      <p:sp>
        <p:nvSpPr>
          <p:cNvPr id="51" name="Rectangle 50">
            <a:extLst>
              <a:ext uri="{FF2B5EF4-FFF2-40B4-BE49-F238E27FC236}">
                <a16:creationId xmlns:a16="http://schemas.microsoft.com/office/drawing/2014/main" id="{C0A79FFA-C049-0329-7EF3-C486D4BF5E13}"/>
              </a:ext>
            </a:extLst>
          </p:cNvPr>
          <p:cNvSpPr/>
          <p:nvPr/>
        </p:nvSpPr>
        <p:spPr>
          <a:xfrm>
            <a:off x="6356557" y="3356202"/>
            <a:ext cx="723900" cy="2616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dirty="0"/>
              <a:t>Online stores</a:t>
            </a:r>
            <a:endParaRPr lang="en-IN" sz="900" dirty="0"/>
          </a:p>
        </p:txBody>
      </p:sp>
      <p:sp>
        <p:nvSpPr>
          <p:cNvPr id="52" name="Rectangle 51">
            <a:extLst>
              <a:ext uri="{FF2B5EF4-FFF2-40B4-BE49-F238E27FC236}">
                <a16:creationId xmlns:a16="http://schemas.microsoft.com/office/drawing/2014/main" id="{13A93AA4-F7BB-75D4-A788-51BB282E06B8}"/>
              </a:ext>
            </a:extLst>
          </p:cNvPr>
          <p:cNvSpPr/>
          <p:nvPr/>
        </p:nvSpPr>
        <p:spPr>
          <a:xfrm>
            <a:off x="4147170" y="3937839"/>
            <a:ext cx="2832750" cy="2616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Final Consumers</a:t>
            </a:r>
            <a:endParaRPr lang="en-IN" dirty="0"/>
          </a:p>
        </p:txBody>
      </p:sp>
      <p:cxnSp>
        <p:nvCxnSpPr>
          <p:cNvPr id="54" name="Straight Arrow Connector 53">
            <a:extLst>
              <a:ext uri="{FF2B5EF4-FFF2-40B4-BE49-F238E27FC236}">
                <a16:creationId xmlns:a16="http://schemas.microsoft.com/office/drawing/2014/main" id="{301552EC-E3E9-9E40-542D-700F89EB3880}"/>
              </a:ext>
            </a:extLst>
          </p:cNvPr>
          <p:cNvCxnSpPr/>
          <p:nvPr/>
        </p:nvCxnSpPr>
        <p:spPr>
          <a:xfrm flipH="1">
            <a:off x="3986982" y="2816184"/>
            <a:ext cx="1209858" cy="455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0EE9D29F-2284-B043-94FA-CC2C4A82D517}"/>
              </a:ext>
            </a:extLst>
          </p:cNvPr>
          <p:cNvCxnSpPr/>
          <p:nvPr/>
        </p:nvCxnSpPr>
        <p:spPr>
          <a:xfrm>
            <a:off x="6356557" y="2981320"/>
            <a:ext cx="219503" cy="290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0EC50DE-2A11-E411-5A83-62064B824A26}"/>
              </a:ext>
            </a:extLst>
          </p:cNvPr>
          <p:cNvCxnSpPr>
            <a:stCxn id="45" idx="2"/>
          </p:cNvCxnSpPr>
          <p:nvPr/>
        </p:nvCxnSpPr>
        <p:spPr>
          <a:xfrm>
            <a:off x="5814326" y="2981320"/>
            <a:ext cx="0" cy="290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F12EA162-2728-721B-05A2-A6C0B137B2BC}"/>
              </a:ext>
            </a:extLst>
          </p:cNvPr>
          <p:cNvCxnSpPr/>
          <p:nvPr/>
        </p:nvCxnSpPr>
        <p:spPr>
          <a:xfrm flipH="1">
            <a:off x="4922520" y="2981320"/>
            <a:ext cx="436062" cy="2902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F7E55B56-55A7-ECF4-34FF-EFC394BCD725}"/>
              </a:ext>
            </a:extLst>
          </p:cNvPr>
          <p:cNvCxnSpPr/>
          <p:nvPr/>
        </p:nvCxnSpPr>
        <p:spPr>
          <a:xfrm>
            <a:off x="3901440" y="3632539"/>
            <a:ext cx="426720" cy="207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F148D1F4-A605-D485-F921-051BC0E296AE}"/>
              </a:ext>
            </a:extLst>
          </p:cNvPr>
          <p:cNvCxnSpPr>
            <a:stCxn id="49" idx="2"/>
          </p:cNvCxnSpPr>
          <p:nvPr/>
        </p:nvCxnSpPr>
        <p:spPr>
          <a:xfrm>
            <a:off x="4750635" y="3623533"/>
            <a:ext cx="171885" cy="216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B44FA76-4752-6679-C60C-8563DB7F7A00}"/>
              </a:ext>
            </a:extLst>
          </p:cNvPr>
          <p:cNvCxnSpPr>
            <a:stCxn id="50" idx="2"/>
          </p:cNvCxnSpPr>
          <p:nvPr/>
        </p:nvCxnSpPr>
        <p:spPr>
          <a:xfrm>
            <a:off x="5720532" y="3632539"/>
            <a:ext cx="93794" cy="283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0E61B609-DDBB-B06F-804B-1A826742AE5F}"/>
              </a:ext>
            </a:extLst>
          </p:cNvPr>
          <p:cNvCxnSpPr>
            <a:stCxn id="51" idx="2"/>
          </p:cNvCxnSpPr>
          <p:nvPr/>
        </p:nvCxnSpPr>
        <p:spPr>
          <a:xfrm flipH="1">
            <a:off x="6466308" y="3617812"/>
            <a:ext cx="252199" cy="222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E92D8F86-A80D-28EF-2960-284F08798B37}"/>
              </a:ext>
            </a:extLst>
          </p:cNvPr>
          <p:cNvSpPr/>
          <p:nvPr/>
        </p:nvSpPr>
        <p:spPr>
          <a:xfrm>
            <a:off x="8241024" y="3429000"/>
            <a:ext cx="2038345" cy="6543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Collection Centre</a:t>
            </a:r>
            <a:endParaRPr lang="en-IN" dirty="0"/>
          </a:p>
        </p:txBody>
      </p:sp>
      <p:cxnSp>
        <p:nvCxnSpPr>
          <p:cNvPr id="71" name="Straight Arrow Connector 70">
            <a:extLst>
              <a:ext uri="{FF2B5EF4-FFF2-40B4-BE49-F238E27FC236}">
                <a16:creationId xmlns:a16="http://schemas.microsoft.com/office/drawing/2014/main" id="{6B7CD409-D493-2233-0042-BA33FF493840}"/>
              </a:ext>
            </a:extLst>
          </p:cNvPr>
          <p:cNvCxnSpPr>
            <a:cxnSpLocks/>
            <a:stCxn id="52" idx="3"/>
          </p:cNvCxnSpPr>
          <p:nvPr/>
        </p:nvCxnSpPr>
        <p:spPr>
          <a:xfrm flipV="1">
            <a:off x="6979920" y="3784977"/>
            <a:ext cx="1167310" cy="283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9877B225-846C-5A1F-83CB-764E1FCFC517}"/>
              </a:ext>
            </a:extLst>
          </p:cNvPr>
          <p:cNvSpPr/>
          <p:nvPr/>
        </p:nvSpPr>
        <p:spPr>
          <a:xfrm>
            <a:off x="8241024" y="2332681"/>
            <a:ext cx="2038345" cy="5688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Remove Distribution</a:t>
            </a:r>
            <a:endParaRPr lang="en-IN" dirty="0"/>
          </a:p>
        </p:txBody>
      </p:sp>
      <p:sp>
        <p:nvSpPr>
          <p:cNvPr id="75" name="Rectangle 74">
            <a:extLst>
              <a:ext uri="{FF2B5EF4-FFF2-40B4-BE49-F238E27FC236}">
                <a16:creationId xmlns:a16="http://schemas.microsoft.com/office/drawing/2014/main" id="{4B7D953F-27C8-F922-A8F1-5B3F82FFEB80}"/>
              </a:ext>
            </a:extLst>
          </p:cNvPr>
          <p:cNvSpPr/>
          <p:nvPr/>
        </p:nvSpPr>
        <p:spPr>
          <a:xfrm>
            <a:off x="8241023" y="1047989"/>
            <a:ext cx="2038345" cy="6426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Disposal</a:t>
            </a:r>
            <a:endParaRPr lang="en-IN" dirty="0"/>
          </a:p>
        </p:txBody>
      </p:sp>
      <p:cxnSp>
        <p:nvCxnSpPr>
          <p:cNvPr id="77" name="Straight Arrow Connector 76">
            <a:extLst>
              <a:ext uri="{FF2B5EF4-FFF2-40B4-BE49-F238E27FC236}">
                <a16:creationId xmlns:a16="http://schemas.microsoft.com/office/drawing/2014/main" id="{8F1A52B4-8023-3B24-1D9B-788D468B76FF}"/>
              </a:ext>
            </a:extLst>
          </p:cNvPr>
          <p:cNvCxnSpPr>
            <a:stCxn id="69" idx="0"/>
            <a:endCxn id="74" idx="2"/>
          </p:cNvCxnSpPr>
          <p:nvPr/>
        </p:nvCxnSpPr>
        <p:spPr>
          <a:xfrm flipV="1">
            <a:off x="9260197" y="2901564"/>
            <a:ext cx="0" cy="5274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746C870B-DF30-24E0-5CBD-F8BE2247B6C3}"/>
              </a:ext>
            </a:extLst>
          </p:cNvPr>
          <p:cNvCxnSpPr/>
          <p:nvPr/>
        </p:nvCxnSpPr>
        <p:spPr>
          <a:xfrm flipV="1">
            <a:off x="9403080" y="1696109"/>
            <a:ext cx="0" cy="623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5C08045-DD69-D1CE-88D5-074E47297AA9}"/>
              </a:ext>
            </a:extLst>
          </p:cNvPr>
          <p:cNvCxnSpPr>
            <a:cxnSpLocks/>
          </p:cNvCxnSpPr>
          <p:nvPr/>
        </p:nvCxnSpPr>
        <p:spPr>
          <a:xfrm flipH="1">
            <a:off x="3986982" y="1207973"/>
            <a:ext cx="4254041" cy="34087"/>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AC9F102F-4FBB-36B5-13EE-4E97CB1BE652}"/>
              </a:ext>
            </a:extLst>
          </p:cNvPr>
          <p:cNvCxnSpPr>
            <a:cxnSpLocks/>
          </p:cNvCxnSpPr>
          <p:nvPr/>
        </p:nvCxnSpPr>
        <p:spPr>
          <a:xfrm>
            <a:off x="3986982" y="1242060"/>
            <a:ext cx="0" cy="6924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2203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4A49A93-F79F-B2AF-BFDF-45A007E8C323}"/>
              </a:ext>
            </a:extLst>
          </p:cNvPr>
          <p:cNvSpPr>
            <a:spLocks noGrp="1"/>
          </p:cNvSpPr>
          <p:nvPr>
            <p:ph type="subTitle" idx="1"/>
          </p:nvPr>
        </p:nvSpPr>
        <p:spPr>
          <a:xfrm>
            <a:off x="193040" y="1320800"/>
            <a:ext cx="11805920" cy="5334000"/>
          </a:xfrm>
        </p:spPr>
        <p:txBody>
          <a:bodyPr>
            <a:normAutofit fontScale="92500" lnSpcReduction="20000"/>
          </a:bodyPr>
          <a:lstStyle/>
          <a:p>
            <a:pPr algn="l"/>
            <a:r>
              <a:rPr lang="en-GB" dirty="0"/>
              <a:t>In sustainability and ethical sourcing, they aim to use 100% sustainably sourced materials like wood, reduce their carbon footprint, and apply circular design principles to minimize waste throughout the product lifecycle.</a:t>
            </a:r>
          </a:p>
          <a:p>
            <a:pPr algn="l"/>
            <a:r>
              <a:rPr lang="en-GB" dirty="0"/>
              <a:t>Inventory management also demands precision, as companies optimize stock levels across 445+ stores and multiple distribution </a:t>
            </a:r>
            <a:r>
              <a:rPr lang="en-GB" dirty="0" err="1"/>
              <a:t>centers</a:t>
            </a:r>
            <a:r>
              <a:rPr lang="en-GB" dirty="0"/>
              <a:t>. They need to anticipate seasonal demand shifts, while controlling inventory costs and ensuring products are available.</a:t>
            </a:r>
          </a:p>
          <a:p>
            <a:pPr algn="l"/>
            <a:r>
              <a:rPr lang="en-GB" dirty="0"/>
              <a:t>Maintaining quality control across a vast global supplier network is essential to uphold brand standards. Rigorous quality assurance processes, both for in-house and outsourced production, are put in place to ensure products meet safety and durability standards that vary by region and market.</a:t>
            </a:r>
          </a:p>
          <a:p>
            <a:pPr algn="l"/>
            <a:r>
              <a:rPr lang="en-GB" dirty="0"/>
              <a:t>Supply chain visibility is increasingly vital for both efficiency and transparency. Companies rely on real-time tracking and advanced technologies, like RFID and IoT sensors, to monitor the journey of materials and products from source to consumer..</a:t>
            </a:r>
          </a:p>
          <a:p>
            <a:pPr algn="l"/>
            <a:r>
              <a:rPr lang="en-GB" dirty="0"/>
              <a:t>For last-mile delivery, optimizing the delivery of bulky furniture items requires balancing cost-efficiency with customer expectations for speed. IKEA is investing in sustainable options such as electric vehicles and route optimization to reduce environmental impact while maintaining a high standard of delivery service.</a:t>
            </a:r>
          </a:p>
          <a:p>
            <a:pPr algn="l"/>
            <a:r>
              <a:rPr lang="en-GB" dirty="0"/>
              <a:t> global expansion brings its own complexities. Adapting the supply chain to fit new markets means navigating diverse regulations, managing compliance with local laws, and tailoring product offerings to align with local preferences, all while preserving a consistent global brand identity.</a:t>
            </a:r>
          </a:p>
          <a:p>
            <a:endParaRPr lang="en-IN" dirty="0"/>
          </a:p>
        </p:txBody>
      </p:sp>
      <p:sp>
        <p:nvSpPr>
          <p:cNvPr id="4" name="Title 1">
            <a:extLst>
              <a:ext uri="{FF2B5EF4-FFF2-40B4-BE49-F238E27FC236}">
                <a16:creationId xmlns:a16="http://schemas.microsoft.com/office/drawing/2014/main" id="{8A0AE5A3-2634-8DB9-765F-D0005E53E88A}"/>
              </a:ext>
            </a:extLst>
          </p:cNvPr>
          <p:cNvSpPr txBox="1">
            <a:spLocks/>
          </p:cNvSpPr>
          <p:nvPr/>
        </p:nvSpPr>
        <p:spPr>
          <a:xfrm>
            <a:off x="838200" y="-122555"/>
            <a:ext cx="10515600" cy="132556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a:t>Operation Challenges</a:t>
            </a:r>
            <a:endParaRPr lang="en-IN" dirty="0"/>
          </a:p>
        </p:txBody>
      </p:sp>
    </p:spTree>
    <p:extLst>
      <p:ext uri="{BB962C8B-B14F-4D97-AF65-F5344CB8AC3E}">
        <p14:creationId xmlns:p14="http://schemas.microsoft.com/office/powerpoint/2010/main" val="491609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652</TotalTime>
  <Words>471</Words>
  <Application>Microsoft Office PowerPoint</Application>
  <PresentationFormat>Widescreen</PresentationFormat>
  <Paragraphs>40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__fkGroteskNeue_598ab8</vt:lpstr>
      <vt:lpstr>Arial</vt:lpstr>
      <vt:lpstr>Calibri</vt:lpstr>
      <vt:lpstr>Calibri Light</vt:lpstr>
      <vt:lpstr>Office Theme</vt:lpstr>
      <vt:lpstr>IKEA’s Supply Chain and OPS </vt:lpstr>
      <vt:lpstr>Supply network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Bhavya Jain</dc:creator>
  <cp:lastModifiedBy>Bhavya Jain</cp:lastModifiedBy>
  <cp:revision>3</cp:revision>
  <dcterms:created xsi:type="dcterms:W3CDTF">2024-11-05T19:14:44Z</dcterms:created>
  <dcterms:modified xsi:type="dcterms:W3CDTF">2024-11-09T13:22:30Z</dcterms:modified>
</cp:coreProperties>
</file>